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Turning Customer Data into Actionable Business Insights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793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Executive Summary: Key Metrics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61951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3.9K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24261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552328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the analyzed dataset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4860" y="1561951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$233K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284860" y="224261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84860" y="2552328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purchases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6143" y="1561951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$59.76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046143" y="224261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6143" y="2552328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 transaction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04181" y="3165723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3.75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1904181" y="3846388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904181" y="4156100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 of 5.0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5464" y="3165723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43%</a:t>
            </a:r>
            <a:endParaRPr lang="en-US" sz="3850" dirty="0"/>
          </a:p>
        </p:txBody>
      </p:sp>
      <p:sp>
        <p:nvSpPr>
          <p:cNvPr id="16" name="Text 14"/>
          <p:cNvSpPr/>
          <p:nvPr/>
        </p:nvSpPr>
        <p:spPr>
          <a:xfrm>
            <a:off x="4665464" y="3846388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Usage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5464" y="4156100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all purchases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2094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Business Questions We Answered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23577" y="1086520"/>
            <a:ext cx="305023" cy="30502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580355" y="1119374"/>
            <a:ext cx="19139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1458" y="1133103"/>
            <a:ext cx="766896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Revenue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1458" y="1406203"/>
            <a:ext cx="766896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categories drive the most revenue?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3577" y="1858640"/>
            <a:ext cx="305023" cy="30502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580355" y="1891494"/>
            <a:ext cx="19139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1458" y="1905223"/>
            <a:ext cx="766896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 Spending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1458" y="2178323"/>
            <a:ext cx="766896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do male vs. female customers compare in spending?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3577" y="2630760"/>
            <a:ext cx="305023" cy="30502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580355" y="2663614"/>
            <a:ext cx="19139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1458" y="2677344"/>
            <a:ext cx="766896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Impact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1458" y="2950443"/>
            <a:ext cx="766896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Does subscription status affect purchase value?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3577" y="3402881"/>
            <a:ext cx="305023" cy="30502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580355" y="3435734"/>
            <a:ext cx="19139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1458" y="3449464"/>
            <a:ext cx="766896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Segmentation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1458" y="3722563"/>
            <a:ext cx="766896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does customer loyalty segment the base?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3577" y="4175001"/>
            <a:ext cx="305023" cy="30502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20" name="Text 18"/>
          <p:cNvSpPr/>
          <p:nvPr/>
        </p:nvSpPr>
        <p:spPr>
          <a:xfrm>
            <a:off x="580355" y="4207855"/>
            <a:ext cx="191393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1458" y="4221584"/>
            <a:ext cx="766896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Behavior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1458" y="4494684"/>
            <a:ext cx="7668964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is the impact of discounts on purchasing behavior?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&amp; Technology Architecture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239" y="706189"/>
            <a:ext cx="7223522" cy="394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2779" y="2562401"/>
            <a:ext cx="1673748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 Data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139276" y="2536720"/>
            <a:ext cx="167374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4608" y="2545069"/>
            <a:ext cx="167374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4695453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structured four-stage pipeline transforms raw customer records into interactive, decision-ready insights — from source data through preparation, SQL analysis, and final Power BI visualization.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4904"/>
            <a:ext cx="8096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Clothing Drives the Largest Share of Observed Revenue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24905"/>
            <a:ext cx="3903018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168" y="1012999"/>
            <a:ext cx="390301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22168" y="1283271"/>
            <a:ext cx="3903018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is the clear revenue leader, accounting for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45% of total observed revenue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$104,264. Accessories follow at 32% ($74,200), making these two categories together responsible for over three-quarters of all revenue.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4047976"/>
            <a:ext cx="1952997" cy="6706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226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Clothing — $104,264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14226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45% of total revenue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1527" y="4047976"/>
            <a:ext cx="1952997" cy="6706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176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Accessories — $74,200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762176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32% of total revenue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476" y="4047976"/>
            <a:ext cx="1952997" cy="6706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10125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Footwear — $36,093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810125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15% of total revenue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426" y="4047976"/>
            <a:ext cx="1952997" cy="6706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74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Outerwear — $18,524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6858074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8% of total revenue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9868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Male Customers Represent Larger Revenue Share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53220"/>
            <a:ext cx="5165154" cy="2905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2845" y="1045890"/>
            <a:ext cx="265226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45" y="1312887"/>
            <a:ext cx="2652266" cy="228183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72845" y="3693319"/>
            <a:ext cx="2652266" cy="861715"/>
          </a:xfrm>
          <a:prstGeom prst="roundRect">
            <a:avLst>
              <a:gd name="adj" fmla="val 1994"/>
            </a:avLst>
          </a:prstGeom>
          <a:solidFill>
            <a:srgbClr val="E2ECDF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368" y="3823618"/>
            <a:ext cx="143173" cy="114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45064" y="3800773"/>
            <a:ext cx="2165524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reflects customer composition in the dataset — male customers make up a larger share of the customer base — not a difference in spending per individual customer.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2300"/>
            <a:ext cx="8096845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Dataset Is Dominated by Returning and Loyal Customers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87921" y="2346647"/>
            <a:ext cx="1667619" cy="33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</a:t>
            </a:r>
            <a:endParaRPr lang="en-US" sz="2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937" y="1499295"/>
            <a:ext cx="2033736" cy="2033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3689747"/>
            <a:ext cx="259653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 Customers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3577" y="3962846"/>
            <a:ext cx="2596530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 with 10+ purchases — the core of the business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38042" y="2346647"/>
            <a:ext cx="1667619" cy="33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18%</a:t>
            </a:r>
            <a:endParaRPr lang="en-US" sz="2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57" y="1499295"/>
            <a:ext cx="2033736" cy="2033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698" y="3689747"/>
            <a:ext cx="259653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 Customers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273698" y="3962846"/>
            <a:ext cx="2596530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 with 2–10 purchases — an engaged growth segment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88237" y="2346647"/>
            <a:ext cx="1667619" cy="33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2%</a:t>
            </a:r>
            <a:endParaRPr lang="en-US" sz="2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252" y="1499295"/>
            <a:ext cx="2033736" cy="20337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3818" y="3689747"/>
            <a:ext cx="259660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Customers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023818" y="3962846"/>
            <a:ext cx="2596604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 with just 1 purchase — significant acquisition opportunity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23577" y="4514478"/>
            <a:ext cx="855404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Opportunity: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80% of the base already loyal, deepening engagement through personalized programs offers the highest near-term return.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3536"/>
            <a:ext cx="8096845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Status Shows Little Difference in Average Purchase Value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78546"/>
            <a:ext cx="3880172" cy="279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5013" y="1562621"/>
            <a:ext cx="388017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the Data Shows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45013" y="1892573"/>
            <a:ext cx="3880172" cy="117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(2,847 customers) average </a:t>
            </a:r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$59.87</a:t>
            </a:r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purchase, while subscribers (1,053 customers) average </a:t>
            </a:r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$59.49</a:t>
            </a:r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 difference of just $0.38.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order value alone does not differentiate these segments in a meaningful way.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5013" y="3209627"/>
            <a:ext cx="3880172" cy="1357313"/>
          </a:xfrm>
          <a:prstGeom prst="roundRect">
            <a:avLst>
              <a:gd name="adj" fmla="val 152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902" y="3398118"/>
            <a:ext cx="172343" cy="1378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3134" y="3358455"/>
            <a:ext cx="3294162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Recommendation: Evaluate subscription strategy through </a:t>
            </a:r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retention rates and lifetime value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average order value. The real benefit of subscriptions may lie in purchase frequency and long-term loyalty, not individual transaction size.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3582"/>
            <a:ext cx="809684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Promotions Are a Significant Part of Purchasing Behavior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23577" y="1523926"/>
            <a:ext cx="38859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Penetration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23577" y="1838474"/>
            <a:ext cx="3885902" cy="783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43%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523577" y="2740893"/>
            <a:ext cx="3885902" cy="111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all purchases involved a discount or promotional offer.</a:t>
            </a:r>
            <a:endParaRPr lang="en-US" sz="10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a substantial share of transactions, raising an important strategic question: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Are discounts driving incremental revenue, or are they primarily reducing margin on purchases that would have occurred anyway?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39283" y="1523926"/>
            <a:ext cx="388590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Most Discounted Products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83" y="1853357"/>
            <a:ext cx="1883643" cy="13979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01109" y="1953295"/>
            <a:ext cx="159841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86771" y="2386236"/>
            <a:ext cx="158866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86771" y="2700784"/>
            <a:ext cx="158866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50.0% of purchases discounted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1542" y="1853357"/>
            <a:ext cx="1883643" cy="13979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3368" y="1953295"/>
            <a:ext cx="159841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89031" y="2386236"/>
            <a:ext cx="158866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Sneakers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89031" y="2700784"/>
            <a:ext cx="158866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49.7% of purchases discounted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283" y="3369915"/>
            <a:ext cx="3885902" cy="11964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02276" y="3469853"/>
            <a:ext cx="159841" cy="199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886771" y="3902794"/>
            <a:ext cx="359092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Coat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86771" y="4217343"/>
            <a:ext cx="359092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49.1% of purchases discounted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38894"/>
            <a:ext cx="4667845" cy="838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High-Rated Products Create Engagement Opportunities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952577" y="1481510"/>
            <a:ext cx="466784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an overall average rating of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3.75 / 5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certain products stand out as clear customer favorites — and represent untapped merchandising potential.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52577" y="2079799"/>
            <a:ext cx="2265983" cy="1467148"/>
          </a:xfrm>
          <a:prstGeom prst="roundRect">
            <a:avLst>
              <a:gd name="adj" fmla="val 1458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4095155" y="2222376"/>
            <a:ext cx="198082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🧤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Gloves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95155" y="2513484"/>
            <a:ext cx="1980828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3.86 / 5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Highest rated product in the dataset. Strong candidate for featured placement and cross-sell campaigns.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4440" y="2079799"/>
            <a:ext cx="2265983" cy="1467148"/>
          </a:xfrm>
          <a:prstGeom prst="roundRect">
            <a:avLst>
              <a:gd name="adj" fmla="val 1458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6497017" y="2222376"/>
            <a:ext cx="198082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Sandals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7017" y="2513484"/>
            <a:ext cx="1980828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3.84 / 5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Second highest rating. Ideal for seasonal promotions and customer testimonial features.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52577" y="3682826"/>
            <a:ext cx="4667845" cy="1021705"/>
          </a:xfrm>
          <a:prstGeom prst="roundRect">
            <a:avLst>
              <a:gd name="adj" fmla="val 2094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4095155" y="3825404"/>
            <a:ext cx="43826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👢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Boots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95155" y="4116512"/>
            <a:ext cx="4382691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3.82 / 5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Third highest rating. High satisfaction signals cross-sell potential with complementary accessories.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1948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Five Strategic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277392"/>
            <a:ext cx="149572" cy="1495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577" y="1493937"/>
            <a:ext cx="2599209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5" name="Text 2"/>
          <p:cNvSpPr/>
          <p:nvPr/>
        </p:nvSpPr>
        <p:spPr>
          <a:xfrm>
            <a:off x="523577" y="1606823"/>
            <a:ext cx="25992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Strengthen Loyalty Programs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577" y="1916534"/>
            <a:ext cx="259920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VIP benefits, personalized offers, and early access for the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80% loyal customer base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highest-return segment available.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358" y="1277392"/>
            <a:ext cx="149572" cy="1495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72358" y="1493937"/>
            <a:ext cx="2599209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9" name="Text 5"/>
          <p:cNvSpPr/>
          <p:nvPr/>
        </p:nvSpPr>
        <p:spPr>
          <a:xfrm>
            <a:off x="3272358" y="1606823"/>
            <a:ext cx="25992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 Discount Strategy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358" y="1916534"/>
            <a:ext cx="259920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 incremental revenue, margin impact, and frequency effects. With 43% discount penetration, understanding true ROI is critical.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1139" y="1277392"/>
            <a:ext cx="149572" cy="14957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21139" y="1493937"/>
            <a:ext cx="2599283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3" name="Text 8"/>
          <p:cNvSpPr/>
          <p:nvPr/>
        </p:nvSpPr>
        <p:spPr>
          <a:xfrm>
            <a:off x="6021139" y="1606823"/>
            <a:ext cx="259928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Promote High-Rated Products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21139" y="1916534"/>
            <a:ext cx="259928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Gloves, Sandals, and Boots in merchandising, recommendation engines, and marketing campaigns to leverage proven satisfaction.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154487"/>
            <a:ext cx="149572" cy="1495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3577" y="3371031"/>
            <a:ext cx="3973637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7" name="Text 11"/>
          <p:cNvSpPr/>
          <p:nvPr/>
        </p:nvSpPr>
        <p:spPr>
          <a:xfrm>
            <a:off x="523577" y="3483918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Subscription Conversion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23577" y="3793629"/>
            <a:ext cx="39736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Reframe the subscription value proposition around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retention and lifetime value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rather than average order value, which shows no meaningful difference.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6786" y="3154487"/>
            <a:ext cx="149572" cy="14957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646786" y="3371031"/>
            <a:ext cx="3973637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21" name="Text 14"/>
          <p:cNvSpPr/>
          <p:nvPr/>
        </p:nvSpPr>
        <p:spPr>
          <a:xfrm>
            <a:off x="4646786" y="3483918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Segment-Based Campaigns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646786" y="3793629"/>
            <a:ext cx="39736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Tailor messaging and offers for new (2%), returning (18%), and loyal (80%) customers — each segment has distinct needs and growth potential.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2026-08-11T17:57:30Z</dcterms:created>
  <dcterms:modified xsi:type="dcterms:W3CDTF">2026-08-11T17:57:30Z</dcterms:modified>
</cp:coreProperties>
</file>